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Bank Loan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8D0E6"/>
                </a:solidFill>
              </a:defRPr>
            </a:pPr>
            <a:r>
              <a:t>Risk Assessment &amp; Predictive Modeling for Loan Default Prevention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5778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Ankush Saini | Data Analysis Intern at SYNTECXHUB</a:t>
            </a:r>
          </a:p>
          <a:p>
            <a:r>
              <a:t>Tools: Python (Pandas, Scikit-learn, Seaborn), Power BI, 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417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A4A4A"/>
                </a:solidFill>
              </a:defRPr>
            </a:pPr>
            <a:r>
              <a:t>Project Overview &amp; Objectives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A4A4A"/>
                </a:solidFill>
              </a:defRPr>
            </a:pPr>
            <a:r>
              <a:t>Dataset Description &amp; Preprocessing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560320"/>
            <a:ext cx="457200" cy="45720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060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A4A4A"/>
                </a:solidFill>
              </a:defRPr>
            </a:pPr>
            <a:r>
              <a:t>Exploratory Data Analysis (EDA) Findings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154680"/>
            <a:ext cx="457200" cy="45720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A4A4A"/>
                </a:solidFill>
              </a:defRPr>
            </a:pPr>
            <a:r>
              <a:t>Multivariate Risk Analysis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749039"/>
            <a:ext cx="457200" cy="45720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94759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A4A4A"/>
                </a:solidFill>
              </a:defRPr>
            </a:pPr>
            <a:r>
              <a:t>Predictive Modeling &amp; Feature Importance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343400"/>
            <a:ext cx="457200" cy="45720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3891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A4A4A"/>
                </a:solidFill>
              </a:defRPr>
            </a:pPr>
            <a:r>
              <a:t>Power BI Dashboard &amp; Visualizations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937760"/>
            <a:ext cx="457200" cy="45720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9834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A4A4A"/>
                </a:solidFill>
              </a:defRPr>
            </a:pPr>
            <a:r>
              <a:t>Key Business Insights &amp; Recommendations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5532120"/>
            <a:ext cx="457200" cy="45720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5778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4A4A4A"/>
                </a:solidFill>
              </a:defRPr>
            </a:pPr>
            <a:r>
              <a:t>Limitations &amp; Future Enhancements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8D0E6"/>
                </a:solidFill>
              </a:defRPr>
            </a:pPr>
            <a:r>
              <a:t>Domain: Finance | Critical Problem: Loan Default Risk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47120" cy="1097280"/>
          </a:xfrm>
          <a:prstGeom prst="roundRect">
            <a:avLst/>
          </a:prstGeom>
          <a:solidFill>
            <a:srgbClr val="FDEDE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A4A4A"/>
                </a:solidFill>
              </a:defRPr>
            </a:pPr>
            <a:r>
              <a:t>Critical Problem: The bank faces financial risk due to loan defaults. Identifying characteristics of high-risk applicants is essential for minimizing financial losses and optimizing lending decisions.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2A4A"/>
                </a:solidFill>
              </a:defRPr>
            </a:pPr>
            <a:r>
              <a:t>Primary Objectives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00400"/>
            <a:ext cx="54864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3375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86C1"/>
                </a:solidFill>
              </a:defRPr>
            </a:pPr>
            <a:r>
              <a:t>Exploratory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4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A4A4A"/>
                </a:solidFill>
              </a:defRPr>
            </a:pPr>
            <a:r>
              <a:t>Identify key drivers of loan defaults through statistical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200400"/>
            <a:ext cx="54864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3375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86C1"/>
                </a:solidFill>
              </a:defRPr>
            </a:pPr>
            <a:r>
              <a:t>Data Cleaning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74904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A4A4A"/>
                </a:solidFill>
              </a:defRPr>
            </a:pPr>
            <a:r>
              <a:t>Handle missing values and correct data types for robust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846320"/>
            <a:ext cx="54864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98348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86C1"/>
                </a:solidFill>
              </a:defRPr>
            </a:pPr>
            <a:r>
              <a:t>Predictive Modelling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949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A4A4A"/>
                </a:solidFill>
              </a:defRPr>
            </a:pPr>
            <a:r>
              <a:t>Develop models to assess feature importance and predict total payment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846320"/>
            <a:ext cx="54864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98348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86C1"/>
                </a:solidFill>
              </a:defRPr>
            </a:pPr>
            <a:r>
              <a:t>Visualization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3949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A4A4A"/>
                </a:solidFill>
              </a:defRPr>
            </a:pPr>
            <a:r>
              <a:t>Create interactive Power BI dashboard for real-time risk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Dataset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8D0E6"/>
                </a:solidFill>
              </a:defRPr>
            </a:pPr>
            <a:r>
              <a:t>Source: financial_loan.csv | Historical loan application records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256032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4A4A4A"/>
                </a:solidFill>
              </a:defRPr>
            </a:pPr>
            <a:r>
              <a:t>Raw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E86C1"/>
                </a:solidFill>
              </a:defRPr>
            </a:pPr>
            <a:r>
              <a:t>38,576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280160"/>
            <a:ext cx="256032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14173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4A4A4A"/>
                </a:solidFill>
              </a:defRPr>
            </a:pPr>
            <a:r>
              <a:t>Cleaned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73736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7AE60"/>
                </a:solidFill>
              </a:defRPr>
            </a:pPr>
            <a:r>
              <a:t>38,576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280160"/>
            <a:ext cx="256032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B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14173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4A4A4A"/>
                </a:solidFill>
              </a:defRPr>
            </a:pPr>
            <a:r>
              <a:t>Columns (Raw)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173736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5B041"/>
                </a:solidFill>
              </a:defRPr>
            </a:pPr>
            <a:r>
              <a:t>24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1280160"/>
            <a:ext cx="256032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14173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4A4A4A"/>
                </a:solidFill>
              </a:defRPr>
            </a:pPr>
            <a:r>
              <a:t>Columns (Engineered)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73736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E67E22"/>
                </a:solidFill>
              </a:defRPr>
            </a:pPr>
            <a:r>
              <a:t>27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743200"/>
            <a:ext cx="5486400" cy="914400"/>
          </a:xfrm>
          <a:prstGeom prst="roundRect">
            <a:avLst/>
          </a:prstGeom>
          <a:solidFill>
            <a:srgbClr val="FDEDE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880360"/>
            <a:ext cx="5120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A4A4A"/>
                </a:solidFill>
              </a:defRPr>
            </a:pPr>
            <a:r>
              <a:t>Missing Values: 1,438 (in emp_title column only - 3.73% of dataset)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743200"/>
            <a:ext cx="5486400" cy="914400"/>
          </a:xfrm>
          <a:prstGeom prst="roundRect">
            <a:avLst/>
          </a:prstGeom>
          <a:solidFill>
            <a:srgbClr val="E8F6E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880360"/>
            <a:ext cx="51206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A4A4A"/>
                </a:solidFill>
              </a:defRPr>
            </a:pPr>
            <a:r>
              <a:t>Target Variable: Good Loan (86.18%) vs Bad Loan (13.82%)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39319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804672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Column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Integer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Unique identifier for each loan application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loan_amount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Integer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Total amount of money requested by borrower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int_rate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Float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Interest rate applied to the loan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installment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Float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Monthly payment owed by the borrower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grade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Object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Bank-assigned loan grade indicating credit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dti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Float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Debt-to-Income ratio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loan_status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Object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Current status (Fully Paid, Current, Charged Off)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Data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8D0E6"/>
                </a:solidFill>
              </a:defRPr>
            </a:pPr>
            <a:r>
              <a:t>Systematic data cleaning and feature engineering pipeline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280160"/>
            <a:ext cx="548640" cy="54864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28016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</a:defRPr>
            </a:pPr>
            <a:r>
              <a:t>1. Data Loading</a:t>
            </a:r>
          </a:p>
          <a:p>
            <a:pPr>
              <a:spcBef>
                <a:spcPts val="200"/>
              </a:spcBef>
              <a:defRPr sz="1300">
                <a:solidFill>
                  <a:srgbClr val="4A4A4A"/>
                </a:solidFill>
              </a:defRPr>
            </a:pPr>
            <a:r>
              <a:t>Data ingested using pd.read_csv() resulting in a dataframe of 38,576 records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48839"/>
            <a:ext cx="548640" cy="54864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48839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</a:defRPr>
            </a:pPr>
            <a:r>
              <a:t>2. Missing Value Treatment</a:t>
            </a:r>
          </a:p>
          <a:p>
            <a:pPr>
              <a:spcBef>
                <a:spcPts val="200"/>
              </a:spcBef>
              <a:defRPr sz="1300">
                <a:solidFill>
                  <a:srgbClr val="4A4A4A"/>
                </a:solidFill>
              </a:defRPr>
            </a:pPr>
            <a:r>
              <a:t>Identified 1,438 missing values exclusively in emp_title (3.73%). Imputed with placeholder values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3017520"/>
            <a:ext cx="548640" cy="54864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</a:defRPr>
            </a:pPr>
            <a:r>
              <a:t>3. Data Type Correction</a:t>
            </a:r>
          </a:p>
          <a:p>
            <a:pPr>
              <a:spcBef>
                <a:spcPts val="200"/>
              </a:spcBef>
              <a:defRPr sz="1300">
                <a:solidFill>
                  <a:srgbClr val="4A4A4A"/>
                </a:solidFill>
              </a:defRPr>
            </a:pPr>
            <a:r>
              <a:t>Transformed issue_date from string object to standard datetime format for temporal analysis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886200"/>
            <a:ext cx="548640" cy="54864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8862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</a:defRPr>
            </a:pPr>
            <a:r>
              <a:t>4. Duplicate Detection</a:t>
            </a:r>
          </a:p>
          <a:p>
            <a:pPr>
              <a:spcBef>
                <a:spcPts val="200"/>
              </a:spcBef>
              <a:defRPr sz="1300">
                <a:solidFill>
                  <a:srgbClr val="4A4A4A"/>
                </a:solidFill>
              </a:defRPr>
            </a:pPr>
            <a:r>
              <a:t>Verified dataset ID uniqueness to ensure no duplicated application records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754879"/>
            <a:ext cx="548640" cy="54864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754879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</a:defRPr>
            </a:pPr>
            <a:r>
              <a:t>5. Feature Engineering</a:t>
            </a:r>
          </a:p>
          <a:p>
            <a:pPr>
              <a:spcBef>
                <a:spcPts val="200"/>
              </a:spcBef>
              <a:defRPr sz="1300">
                <a:solidFill>
                  <a:srgbClr val="4A4A4A"/>
                </a:solidFill>
              </a:defRPr>
            </a:pPr>
            <a:r>
              <a:t>Extracted issue_month, issue_year; Created dti_category (Low/Medium/High risk); Derived is_bad_loan binary flag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5623560"/>
            <a:ext cx="548640" cy="54864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62356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B2A4A"/>
                </a:solidFill>
              </a:defRPr>
            </a:pPr>
            <a:r>
              <a:t>6. Data Export</a:t>
            </a:r>
          </a:p>
          <a:p>
            <a:pPr>
              <a:spcBef>
                <a:spcPts val="200"/>
              </a:spcBef>
              <a:defRPr sz="1300">
                <a:solidFill>
                  <a:srgbClr val="4A4A4A"/>
                </a:solidFill>
              </a:defRPr>
            </a:pPr>
            <a:r>
              <a:t>Finalized data exported as Cleaned_Bank_Loan_Data.csv for downstream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8D0E6"/>
                </a:solidFill>
              </a:defRPr>
            </a:pPr>
            <a:r>
              <a:t>Target variable distribution and portfolio composition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265176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4A4A4A"/>
                </a:solidFill>
              </a:defRPr>
            </a:pPr>
            <a:r>
              <a:t>Good Loans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7AE60"/>
                </a:solidFill>
              </a:defRPr>
            </a:pPr>
            <a:r>
              <a:t>86.18%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280160"/>
            <a:ext cx="265176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41732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4A4A4A"/>
                </a:solidFill>
              </a:defRPr>
            </a:pPr>
            <a:r>
              <a:t>Bad Loans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73736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E74C3C"/>
                </a:solidFill>
              </a:defRPr>
            </a:pPr>
            <a:r>
              <a:t>13.82%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280160"/>
            <a:ext cx="265176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41732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4A4A4A"/>
                </a:solidFill>
              </a:defRPr>
            </a:pPr>
            <a:r>
              <a:t>Good Loan Funding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73736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2E86C1"/>
                </a:solidFill>
              </a:defRPr>
            </a:pPr>
            <a:r>
              <a:t>$370.2M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280160"/>
            <a:ext cx="265176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41732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4A4A4A"/>
                </a:solidFill>
              </a:defRPr>
            </a:pPr>
            <a:r>
              <a:t>Bad Loan Funding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1737360"/>
            <a:ext cx="2651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E67E22"/>
                </a:solidFill>
              </a:defRPr>
            </a:pPr>
            <a:r>
              <a:t>$65.5M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743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2A4A"/>
                </a:solidFill>
              </a:defRPr>
            </a:pPr>
            <a:r>
              <a:t>Key EDA Findings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291840"/>
            <a:ext cx="548640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401568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86C1"/>
                </a:solidFill>
              </a:defRPr>
            </a:pPr>
            <a:r>
              <a:t>Loan Purpose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79476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A4A4A"/>
                </a:solidFill>
              </a:defRPr>
            </a:pPr>
            <a:r>
              <a:t>Small Business loans show highest risk at 25.62% bad loan rate, followed by Renewable Energy at 18.08%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291840"/>
            <a:ext cx="548640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401568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86C1"/>
                </a:solidFill>
              </a:defRPr>
            </a:pPr>
            <a:r>
              <a:t>Grade-Based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79476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A4A4A"/>
                </a:solidFill>
              </a:defRPr>
            </a:pPr>
            <a:r>
              <a:t>Risk scales perfectly with assigned grades. Grade G loans fail at 31.31% vs Grade A at only ~1%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846320"/>
            <a:ext cx="548640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956048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86C1"/>
                </a:solidFill>
              </a:defRPr>
            </a:pPr>
            <a:r>
              <a:t>Home Ownership Impact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34924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A4A4A"/>
                </a:solidFill>
              </a:defRPr>
            </a:pPr>
            <a:r>
              <a:t>Renters default more (14.57%) compared to Mortgage holders (12.97%), highlighting asset-backed stability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846320"/>
            <a:ext cx="548640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956048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86C1"/>
                </a:solidFill>
              </a:defRPr>
            </a:pPr>
            <a:r>
              <a:t>Interest Rate Correlation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34924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A4A4A"/>
                </a:solidFill>
              </a:defRPr>
            </a:pPr>
            <a:r>
              <a:t>Overall average interest rate is 12.05%. Higher rates heavily correlate with lower grades and higher defaults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Correlation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8D0E6"/>
                </a:solidFill>
              </a:defRPr>
            </a:pPr>
            <a:r>
              <a:t>Key relationships identified in the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4712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86C1"/>
                </a:solidFill>
              </a:defRPr>
            </a:pPr>
            <a:r>
              <a:t>Strong Positive Correlation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3716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2A4A"/>
                </a:solidFill>
              </a:defRPr>
            </a:pPr>
            <a:r>
              <a:t>loan_amount ↔ installment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37160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A4A4A"/>
                </a:solidFill>
              </a:defRPr>
            </a:pPr>
            <a:r>
              <a:t>Larger loan amounts directly translate to higher monthly payment obligations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14600"/>
            <a:ext cx="1124712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060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74C3C"/>
                </a:solidFill>
              </a:defRPr>
            </a:pPr>
            <a:r>
              <a:t>Notable Correlation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6060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2A4A"/>
                </a:solidFill>
              </a:defRPr>
            </a:pPr>
            <a:r>
              <a:t>int_rate ↔ default likelihood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60604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A4A4A"/>
                </a:solidFill>
              </a:defRPr>
            </a:pPr>
            <a:r>
              <a:t>Higher interest rates significantly increase the probability of loan default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749039"/>
            <a:ext cx="1124712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840479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7E22"/>
                </a:solidFill>
              </a:defRPr>
            </a:pPr>
            <a:r>
              <a:t>Risk Indicator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840479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2A4A"/>
                </a:solidFill>
              </a:defRPr>
            </a:pPr>
            <a:r>
              <a:t>dti ↔ financial strain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840479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A4A4A"/>
                </a:solidFill>
              </a:defRPr>
            </a:pPr>
            <a:r>
              <a:t>Higher Debt-to-Income ratio strongly correlates with payment difficulties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983480"/>
            <a:ext cx="1124712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0749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7AE60"/>
                </a:solidFill>
              </a:defRPr>
            </a:pPr>
            <a:r>
              <a:t>Protective Factor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50749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2A4A"/>
                </a:solidFill>
              </a:defRPr>
            </a:pPr>
            <a:r>
              <a:t>annual_income ↔ loan stability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507492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A4A4A"/>
                </a:solidFill>
              </a:defRPr>
            </a:pPr>
            <a:r>
              <a:t>Higher income provides financial buffer against default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Multivariate Risk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8D0E6"/>
                </a:solidFill>
              </a:defRPr>
            </a:pPr>
            <a:r>
              <a:t>Compounding effects of multiple risk factors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4712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2A4A"/>
                </a:solidFill>
              </a:defRPr>
            </a:pPr>
            <a:r>
              <a:t>Grade × Purpose Interaction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353312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A4A4A"/>
                </a:solidFill>
              </a:defRPr>
            </a:pPr>
            <a:r>
              <a:t>The combination of low-tier grades (E, F, G) with high-risk purposes (Small Business) amplifies charge-off probability significantly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31720"/>
            <a:ext cx="1124712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04872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B2A4A"/>
                </a:solidFill>
              </a:defRPr>
            </a:pPr>
            <a:r>
              <a:t>Income × DTI Effect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404872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A4A4A"/>
                </a:solidFill>
              </a:defRPr>
            </a:pPr>
            <a:r>
              <a:t>High DTI paired with low annual income restricts cash flow, showing sharp spikes in late payments and defaults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83279"/>
            <a:ext cx="11247120" cy="868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456431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74C3C"/>
                </a:solidFill>
              </a:defRPr>
            </a:pPr>
            <a:r>
              <a:t>Compounding Risk Scenario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456431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A4A4A"/>
                </a:solidFill>
              </a:defRPr>
            </a:pPr>
            <a:r>
              <a:t>Grade G + Small Business + High DTI creates a toxic combination where default rate exceeds 35%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4572000"/>
          <a:ext cx="112471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6217920"/>
              </a:tblGrid>
              <a:tr h="4343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Factor Combination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Avg Default Rate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Business Implication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Grade F/G + Small Business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~35%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Highly toxic asset combination requiring strict vetting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Renters + High DTI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~22%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Lack of collateral + cash flow strain creates mid-tier risk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Grade D + Educational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~19%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Unsecured debt with delayed ROI leads to elevated defaults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Predictive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8D0E6"/>
                </a:solidFill>
              </a:defRPr>
            </a:pPr>
            <a:r>
              <a:t>Machine learning models for risk assessment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48640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Random Forest Classifier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A4A4A"/>
                </a:solidFill>
              </a:defRPr>
            </a:pPr>
            <a:r>
              <a:t>Loan Status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51206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7AE60"/>
                </a:solidFill>
              </a:defRPr>
            </a:pPr>
            <a:r>
              <a:t>85.69%</a:t>
            </a:r>
          </a:p>
          <a:p>
            <a:pPr>
              <a:defRPr sz="1400">
                <a:solidFill>
                  <a:srgbClr val="4A4A4A"/>
                </a:solidFill>
              </a:defRPr>
            </a:pPr>
            <a:r>
              <a:t>Accuracy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80160"/>
            <a:ext cx="548640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1732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Linear Regression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A4A4A"/>
                </a:solidFill>
              </a:defRPr>
            </a:pPr>
            <a:r>
              <a:t>Total Payment Prediction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40280"/>
            <a:ext cx="51206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E86C1"/>
                </a:solidFill>
              </a:defRPr>
            </a:pPr>
            <a:r>
              <a:t>0.80</a:t>
            </a:r>
          </a:p>
          <a:p>
            <a:pPr>
              <a:defRPr sz="1400">
                <a:solidFill>
                  <a:srgbClr val="4A4A4A"/>
                </a:solidFill>
              </a:defRPr>
            </a:pPr>
            <a:r>
              <a:t>R² Score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566160"/>
            <a:ext cx="11247120" cy="640080"/>
          </a:xfrm>
          <a:prstGeom prst="roundRect">
            <a:avLst/>
          </a:prstGeom>
          <a:solidFill>
            <a:srgbClr val="EBF5FB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6576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A4A4A"/>
                </a:solidFill>
              </a:defRPr>
            </a:pPr>
            <a:r>
              <a:t>Training Configuration: Standard 80/20 split with random state 42 for reproducibility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348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Feature Importance (Random Forest Classifier)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92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A4A4A"/>
                </a:solidFill>
              </a:defRPr>
            </a:pPr>
            <a:r>
              <a:t>DTI (Debt-to-Income)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4937760"/>
            <a:ext cx="4572000" cy="2560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91840" y="4937760"/>
            <a:ext cx="4526279" cy="25603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48920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E86C1"/>
                </a:solidFill>
              </a:defRPr>
            </a:pPr>
            <a:r>
              <a:t>0.198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4892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4A4A"/>
                </a:solidFill>
              </a:defRPr>
            </a:pPr>
            <a:r>
              <a:t>Most critical indicator of financial strain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33095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A4A4A"/>
                </a:solidFill>
              </a:defRPr>
            </a:pPr>
            <a:r>
              <a:t>Installment Amount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5376672"/>
            <a:ext cx="4572000" cy="2560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91840" y="5376672"/>
            <a:ext cx="4206240" cy="25603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5330952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E86C1"/>
                </a:solidFill>
              </a:defRPr>
            </a:pPr>
            <a:r>
              <a:t>0.184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5330952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4A4A"/>
                </a:solidFill>
              </a:defRPr>
            </a:pPr>
            <a:r>
              <a:t>Large monthly burdens increase charge-off likelihood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769864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A4A4A"/>
                </a:solidFill>
              </a:defRPr>
            </a:pPr>
            <a:r>
              <a:t>Interest Rate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1840" y="5815584"/>
            <a:ext cx="4572000" cy="2560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91840" y="5815584"/>
            <a:ext cx="4160519" cy="25603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5769864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E86C1"/>
                </a:solidFill>
              </a:defRPr>
            </a:pPr>
            <a:r>
              <a:t>0.182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5769864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4A4A"/>
                </a:solidFill>
              </a:defRPr>
            </a:pPr>
            <a:r>
              <a:t>Higher rates push borrowers into default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208775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A4A4A"/>
                </a:solidFill>
              </a:defRPr>
            </a:pPr>
            <a:r>
              <a:t>Annual Income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1840" y="6254495"/>
            <a:ext cx="4572000" cy="2560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91840" y="6254495"/>
            <a:ext cx="3977639" cy="25603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0" y="6208775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E86C1"/>
                </a:solidFill>
              </a:defRPr>
            </a:pPr>
            <a:r>
              <a:t>0.174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6208775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4A4A"/>
                </a:solidFill>
              </a:defRPr>
            </a:pPr>
            <a:r>
              <a:t>Lower income provides less financial buffer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Regression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8D0E6"/>
                </a:solidFill>
              </a:defRPr>
            </a:pPr>
            <a:r>
              <a:t>Linear Regression coefficients for total payment prediction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47120" cy="1188720"/>
          </a:xfrm>
          <a:prstGeom prst="roundRect">
            <a:avLst/>
          </a:prstGeom>
          <a:solidFill>
            <a:srgbClr val="EBF5FB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B2A4A"/>
                </a:solidFill>
              </a:defRPr>
            </a:pPr>
            <a:r>
              <a:t>Key Finding: Interest Rate holds the largest positive weight (9,593.09)</a:t>
            </a:r>
          </a:p>
          <a:p>
            <a:pPr>
              <a:spcBef>
                <a:spcPts val="800"/>
              </a:spcBef>
              <a:defRPr sz="1400">
                <a:solidFill>
                  <a:srgbClr val="4A4A4A"/>
                </a:solidFill>
              </a:defRPr>
            </a:pPr>
            <a:r>
              <a:t>A unit increase in interest rate profoundly inflates the total expected payment over the life of the loan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834640"/>
            <a:ext cx="548640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944368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86C1"/>
                </a:solidFill>
              </a:defRPr>
            </a:pPr>
            <a:r>
              <a:t>Interest Rate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3756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A4A4A"/>
                </a:solidFill>
              </a:defRPr>
            </a:pPr>
            <a:r>
              <a:t>Largest coefficient (9,593.09) - directly drives total payment burden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834640"/>
            <a:ext cx="548640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944368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86C1"/>
                </a:solidFill>
              </a:defRPr>
            </a:pPr>
            <a:r>
              <a:t>Loan Amount Effect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33756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A4A4A"/>
                </a:solidFill>
              </a:defRPr>
            </a:pPr>
            <a:r>
              <a:t>Strong positive relationship - principal amount determines base payment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89120"/>
            <a:ext cx="548640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98848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86C1"/>
                </a:solidFill>
              </a:defRPr>
            </a:pPr>
            <a:r>
              <a:t>Installment Correlation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9204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A4A4A"/>
                </a:solidFill>
              </a:defRPr>
            </a:pPr>
            <a:r>
              <a:t>Monthly payment amount significantly influences total repayment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389120"/>
            <a:ext cx="548640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498848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86C1"/>
                </a:solidFill>
              </a:defRPr>
            </a:pPr>
            <a:r>
              <a:t>Term Duration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9204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A4A4A"/>
                </a:solidFill>
              </a:defRPr>
            </a:pPr>
            <a:r>
              <a:t>Longer loan terms compound interest effects on total payment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Power BI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8D0E6"/>
                </a:solidFill>
              </a:defRPr>
            </a:pPr>
            <a:r>
              <a:t>Interactive business intelligence for real-time risk monitoring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471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E86C1"/>
                </a:solidFill>
              </a:defRPr>
            </a:pPr>
            <a:r>
              <a:t>Summary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37160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A4A4A"/>
                </a:solidFill>
              </a:defRPr>
            </a:pPr>
            <a:r>
              <a:t>Top-level KPIs, Good vs Bad loan comparison, dynamic slicers for geography and 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137160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4A4A4A"/>
                </a:solidFill>
              </a:defRPr>
            </a:pPr>
            <a:r>
              <a:t>38,576 applications | $435.7M funded | $473M total return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97480"/>
            <a:ext cx="112471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E86C1"/>
                </a:solidFill>
              </a:defRPr>
            </a:pPr>
            <a:r>
              <a:t>Overview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7889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A4A4A"/>
                </a:solidFill>
              </a:defRPr>
            </a:pPr>
            <a:r>
              <a:t>Monthly trends, state-wise distribution, term analysis, employment length patterns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278892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4A4A4A"/>
                </a:solidFill>
              </a:defRPr>
            </a:pPr>
            <a:r>
              <a:t>Interactive filters for deep-dive analysis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114800"/>
            <a:ext cx="1124712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0624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E86C1"/>
                </a:solidFill>
              </a:defRPr>
            </a:pPr>
            <a:r>
              <a:t>Details 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20624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A4A4A"/>
                </a:solidFill>
              </a:defRPr>
            </a:pPr>
            <a:r>
              <a:t>Granular loan-level data with comprehensive drill-through capabilities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420624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4A4A4A"/>
                </a:solidFill>
              </a:defRPr>
            </a:pPr>
            <a:r>
              <a:t>Row-level detail for audit and investigation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6235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B2A4A"/>
                </a:solidFill>
              </a:defRPr>
            </a:pPr>
            <a:r>
              <a:t>Key Visualizations: KPI Cards | Donut Charts | Bar Charts | Heatmaps | Geographic Maps | Trend Lines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Dashboard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8D0E6"/>
                </a:solidFill>
              </a:defRPr>
            </a:pPr>
            <a:r>
              <a:t>Best-case and worst-case portfolio views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486400" cy="29260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7AE60"/>
                </a:solidFill>
              </a:defRPr>
            </a:pPr>
            <a:r>
              <a:t>Best-Case 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4A4A4A"/>
                </a:solidFill>
              </a:defRPr>
            </a:pPr>
            <a:r>
              <a:t>Filter: Grade A + Mortgage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5120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Bad loan rate drops below 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A4A4A"/>
                </a:solidFill>
              </a:defRPr>
            </a:pPr>
            <a:r>
              <a:t>Highly stable, low-yield investment tier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280160"/>
            <a:ext cx="5486400" cy="292608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1732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74C3C"/>
                </a:solidFill>
              </a:defRPr>
            </a:pPr>
            <a:r>
              <a:t>Worst-Case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6596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4A4A4A"/>
                </a:solidFill>
              </a:defRPr>
            </a:pPr>
            <a:r>
              <a:t>Filter: Grade G + Small Business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468880"/>
            <a:ext cx="5120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Bad loan indicator spikes significantly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1089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A4A4A"/>
                </a:solidFill>
              </a:defRPr>
            </a:pPr>
            <a:r>
              <a:t>Segments requiring immediate underwriting restrictions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572000"/>
            <a:ext cx="11247120" cy="1554480"/>
          </a:xfrm>
          <a:prstGeom prst="roundRect">
            <a:avLst/>
          </a:prstGeom>
          <a:solidFill>
            <a:srgbClr val="E8F6EF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70916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7AE60"/>
                </a:solidFill>
              </a:defRPr>
            </a:pPr>
            <a:r>
              <a:t>Business Value</a:t>
            </a:r>
          </a:p>
          <a:p>
            <a:pPr>
              <a:spcBef>
                <a:spcPts val="800"/>
              </a:spcBef>
              <a:defRPr sz="1400">
                <a:solidFill>
                  <a:srgbClr val="4A4A4A"/>
                </a:solidFill>
              </a:defRPr>
            </a:pPr>
            <a:r>
              <a:t>The interactive dashboard enables executives to instantly identify risk concentrations, simulate portfolio scenarios, and make data-driven lending decisions. Dynamic filtering by grade, purpose, geography, and home ownership provides granular risk visibility.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Key Findings &amp;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8D0E6"/>
                </a:solidFill>
              </a:defRPr>
            </a:pPr>
            <a:r>
              <a:t>Top drivers of loan default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280160"/>
            <a:ext cx="640080" cy="64008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2801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B2A4A"/>
                </a:solidFill>
              </a:defRPr>
            </a:pPr>
            <a:r>
              <a:t>Debt-to-Income (DTI)</a:t>
            </a:r>
          </a:p>
          <a:p>
            <a:pPr>
              <a:defRPr sz="1300">
                <a:solidFill>
                  <a:srgbClr val="4A4A4A"/>
                </a:solidFill>
              </a:defRPr>
            </a:pPr>
            <a:r>
              <a:t>The most critical indicator of financial strain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240280"/>
            <a:ext cx="640080" cy="64008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2402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B2A4A"/>
                </a:solidFill>
              </a:defRPr>
            </a:pPr>
            <a:r>
              <a:t>Interest Rate</a:t>
            </a:r>
          </a:p>
          <a:p>
            <a:pPr>
              <a:defRPr sz="1300">
                <a:solidFill>
                  <a:srgbClr val="4A4A4A"/>
                </a:solidFill>
              </a:defRPr>
            </a:pPr>
            <a:r>
              <a:t>Higher rates push borrowers into default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3200400"/>
            <a:ext cx="640080" cy="640080"/>
          </a:xfrm>
          <a:prstGeom prst="ellipse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2004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B2A4A"/>
                </a:solidFill>
              </a:defRPr>
            </a:pPr>
            <a:r>
              <a:t>Installment Amount</a:t>
            </a:r>
          </a:p>
          <a:p>
            <a:pPr>
              <a:defRPr sz="1300">
                <a:solidFill>
                  <a:srgbClr val="4A4A4A"/>
                </a:solidFill>
              </a:defRPr>
            </a:pPr>
            <a:r>
              <a:t>Large monthly burdens increase charge-off likelihood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4160520"/>
            <a:ext cx="640080" cy="64008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1605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B2A4A"/>
                </a:solidFill>
              </a:defRPr>
            </a:pPr>
            <a:r>
              <a:t>Annual Income</a:t>
            </a:r>
          </a:p>
          <a:p>
            <a:pPr>
              <a:defRPr sz="1300">
                <a:solidFill>
                  <a:srgbClr val="4A4A4A"/>
                </a:solidFill>
              </a:defRPr>
            </a:pPr>
            <a:r>
              <a:t>Lower absolute income provides less financial buffer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5120640"/>
            <a:ext cx="640080" cy="64008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1206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B2A4A"/>
                </a:solidFill>
              </a:defRPr>
            </a:pPr>
            <a:r>
              <a:t>Loan Grade</a:t>
            </a:r>
          </a:p>
          <a:p>
            <a:pPr>
              <a:defRPr sz="1300">
                <a:solidFill>
                  <a:srgbClr val="4A4A4A"/>
                </a:solidFill>
              </a:defRPr>
            </a:pPr>
            <a:r>
              <a:t>Bank-assigned grades are highly accurate predictors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Business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8D0E6"/>
                </a:solidFill>
              </a:defRPr>
            </a:pPr>
            <a:r>
              <a:t>Actionable strategies to mitigate loan default risk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286000"/>
                <a:gridCol w="4114800"/>
                <a:gridCol w="32004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Problem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Recommended Action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Expected Impact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Underwriting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High default in Small Business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Cap maximum funding for Small Business loans lacking collateral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Reduce Bad Loan exposure by 10-15% in this segment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Risk Management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Grade F/G toxicity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Increase minimum DTI requirements for approvals in grades F and G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Prevent high-risk capital allocation, improving portfolio yield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Marketing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High performance of Grade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Design targeted promotional campaigns for high-income homeowners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4A4A4A"/>
                          </a:solidFill>
                        </a:defRPr>
                      </a:pPr>
                      <a:r>
                        <a:t>Increase volume of secure, low-risk 'Good Loans'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5720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Implementation Priority Matrix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029200"/>
            <a:ext cx="365760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12064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74C3C"/>
                </a:solidFill>
              </a:defRPr>
            </a:pPr>
            <a:r>
              <a:t>Immediate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48640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A4A4A"/>
                </a:solidFill>
              </a:defRPr>
            </a:pPr>
            <a:r>
              <a:t>Underwriting restrictions for Grade F/G + Small Business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5029200"/>
            <a:ext cx="365760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512064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7E22"/>
                </a:solidFill>
              </a:defRPr>
            </a:pPr>
            <a:r>
              <a:t>Short-term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548640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A4A4A"/>
                </a:solidFill>
              </a:defRPr>
            </a:pPr>
            <a:r>
              <a:t>Enhanced DTI screening for high-risk segments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5029200"/>
            <a:ext cx="365760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5120640"/>
            <a:ext cx="3383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7AE60"/>
                </a:solidFill>
              </a:defRPr>
            </a:pPr>
            <a:r>
              <a:t>Medium-term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548640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A4A4A"/>
                </a:solidFill>
              </a:defRPr>
            </a:pPr>
            <a:r>
              <a:t>Targeted marketing for Grade A borrowers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Tools &amp;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8D0E6"/>
                </a:solidFill>
              </a:defRPr>
            </a:pPr>
            <a:r>
              <a:t>Technology stack powering the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486400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86C1"/>
                </a:solidFill>
              </a:defRPr>
            </a:pPr>
            <a:r>
              <a:t>Python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417320"/>
            <a:ext cx="1371600" cy="36576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3.x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A4A4A"/>
                </a:solidFill>
              </a:defRPr>
            </a:pPr>
            <a:r>
              <a:t>Core programming language for data manipulation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486400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B0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89888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B041"/>
                </a:solidFill>
              </a:defRPr>
            </a:pPr>
            <a:r>
              <a:t>Pandas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0" y="1417320"/>
            <a:ext cx="1371600" cy="365760"/>
          </a:xfrm>
          <a:prstGeom prst="roundRect">
            <a:avLst/>
          </a:prstGeom>
          <a:solidFill>
            <a:srgbClr val="F5B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Latest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7452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A4A4A"/>
                </a:solidFill>
              </a:defRPr>
            </a:pPr>
            <a:r>
              <a:t>Data ingestion, cleaning, and feature engineering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34639"/>
            <a:ext cx="5486400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944367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AE60"/>
                </a:solidFill>
              </a:defRPr>
            </a:pPr>
            <a:r>
              <a:t>DuckDB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2971799"/>
            <a:ext cx="1371600" cy="3657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Latest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428999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A4A4A"/>
                </a:solidFill>
              </a:defRPr>
            </a:pPr>
            <a:r>
              <a:t>Rapid SQL querying and KPI aggregation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834639"/>
            <a:ext cx="5486400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944367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74C3C"/>
                </a:solidFill>
              </a:defRPr>
            </a:pPr>
            <a:r>
              <a:t>Scikit-learn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2971799"/>
            <a:ext cx="1371600" cy="3657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Latest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428999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A4A4A"/>
                </a:solidFill>
              </a:defRPr>
            </a:pPr>
            <a:r>
              <a:t>Building regression and classification ML models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389120"/>
            <a:ext cx="5486400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498848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7E22"/>
                </a:solidFill>
              </a:defRPr>
            </a:pPr>
            <a:r>
              <a:t>Matplotlib/Seaborn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4526280"/>
            <a:ext cx="1371600" cy="3657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Latest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98348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A4A4A"/>
                </a:solidFill>
              </a:defRPr>
            </a:pPr>
            <a:r>
              <a:t>Generating exploratory visualizations and correlation heatmaps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389120"/>
            <a:ext cx="5486400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498848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A4A"/>
                </a:solidFill>
              </a:defRPr>
            </a:pPr>
            <a:r>
              <a:t>Power BI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4526280"/>
            <a:ext cx="1371600" cy="3657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Desktop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98348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A4A4A"/>
                </a:solidFill>
              </a:defRPr>
            </a:pPr>
            <a:r>
              <a:t>Building the final interactive business intelligence dashboard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Limitations &amp; 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8D0E6"/>
                </a:solidFill>
              </a:defRPr>
            </a:pPr>
            <a:r>
              <a:t>Current constraints and roadmap for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74C3C"/>
                </a:solidFill>
              </a:defRPr>
            </a:pPr>
            <a:r>
              <a:t>Current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A4A4A"/>
                </a:solidFill>
              </a:defRPr>
            </a:pPr>
            <a:r>
              <a:t>• Static dataset: Macroeconomic shifts (inflation, changing federal interest rates) are not accounted for in the current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A4A4A"/>
                </a:solidFill>
              </a:defRPr>
            </a:pPr>
            <a:r>
              <a:t>• Self-reported metrics: Annual income data may contain unverified or inaccurate information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39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A4A4A"/>
                </a:solidFill>
              </a:defRPr>
            </a:pPr>
            <a:r>
              <a:t>• Temporal constraint: Analysis limited to year 2021 data, potentially missing longer-term trends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7AE60"/>
                </a:solidFill>
              </a:defRPr>
            </a:pPr>
            <a:r>
              <a:t>Recommended Future Enhancements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114800"/>
            <a:ext cx="548640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20624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7AE60"/>
                </a:solidFill>
              </a:defRPr>
            </a:pPr>
            <a:r>
              <a:t>Real-time APIs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720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A4A4A"/>
                </a:solidFill>
              </a:defRPr>
            </a:pPr>
            <a:r>
              <a:t>Integrate live credit bureau APIs to dynamically update borrower DTI and credit scores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114800"/>
            <a:ext cx="548640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20624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7AE60"/>
                </a:solidFill>
              </a:defRPr>
            </a:pPr>
            <a:r>
              <a:t>Advanced Modelling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57200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A4A4A"/>
                </a:solidFill>
              </a:defRPr>
            </a:pPr>
            <a:r>
              <a:t>Upgrade from Random Forest to XGBoost or LightGBM to capture non-linear relationships and improve predictive accuracy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349240"/>
            <a:ext cx="548640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44068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7AE60"/>
                </a:solidFill>
              </a:defRPr>
            </a:pPr>
            <a:r>
              <a:t>Expanded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064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A4A4A"/>
                </a:solidFill>
              </a:defRPr>
            </a:pPr>
            <a:r>
              <a:t>Incorporate macroeconomic indicators, employment market data, and alternative credit data sources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5349240"/>
            <a:ext cx="548640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544068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7AE60"/>
                </a:solidFill>
              </a:defRPr>
            </a:pPr>
            <a:r>
              <a:t>Automated Monitoring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8064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4A4A4A"/>
                </a:solidFill>
              </a:defRPr>
            </a:pPr>
            <a:r>
              <a:t>Implement real-time alerting systems for emerging risk patterns in the loan portfolio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A8D0E6"/>
                </a:solidFill>
              </a:defRPr>
            </a:pPr>
            <a:r>
              <a:t>Bank Loan Analysis | Risk Assessment &amp; Predictive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Ankush Saini</a:t>
            </a:r>
          </a:p>
          <a:p>
            <a:r>
              <a:t>Data Analysis Intern at SYNTECXHUB</a:t>
            </a:r>
          </a:p>
          <a:p>
            <a:pPr algn="ctr">
              <a:spcBef>
                <a:spcPts val="1200"/>
              </a:spcBef>
              <a:defRPr sz="1400">
                <a:solidFill>
                  <a:srgbClr val="A8D0E6"/>
                </a:solidFill>
              </a:defRPr>
            </a:pPr>
            <a:r>
              <a:t>Tools: Python (Pandas, Scikit-learn, Seaborn), Power BI, SQL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